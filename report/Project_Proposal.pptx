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2E4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NAGPUR   ·   PGP 2026-27   ·   SECTION 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3716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Retention &amp;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Growth Analysis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4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 ·  Business Data Mining &amp; Decision Models (BDMDM)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886200"/>
            <a:ext cx="10698480" cy="0"/>
          </a:xfrm>
          <a:prstGeom prst="line">
            <a:avLst/>
          </a:prstGeom>
          <a:noFill/>
          <a:ln w="12700">
            <a:solidFill>
              <a:srgbClr val="4A3A4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262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Protik Das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0932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Satyabrata Singh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66013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Yadav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5262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Abhisek Samantaray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50932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 Pratap Singh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2A1B2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"/>
            <a:ext cx="493776" cy="493776"/>
          </a:xfrm>
          <a:prstGeom prst="ellipse">
            <a:avLst/>
          </a:prstGeom>
          <a:solidFill>
            <a:srgbClr val="7A2E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19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Problem, Importance &amp; Dataset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486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existing customer value, cut revenue leakage, reduce dependence on two categories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602736" cy="1097280"/>
          </a:xfrm>
          <a:prstGeom prst="roundRect">
            <a:avLst>
              <a:gd name="adj" fmla="val 5000"/>
            </a:avLst>
          </a:prstGeom>
          <a:solidFill>
            <a:srgbClr val="F6EC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234440"/>
            <a:ext cx="338328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39.9%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57477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cancelled / returned - $4.73M gross unrealized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143000"/>
            <a:ext cx="3602736" cy="1097280"/>
          </a:xfrm>
          <a:prstGeom prst="roundRect">
            <a:avLst>
              <a:gd name="adj" fmla="val 5000"/>
            </a:avLst>
          </a:prstGeom>
          <a:solidFill>
            <a:srgbClr val="F1E7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07408" y="1234440"/>
            <a:ext cx="338328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62.7%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407408" y="1757477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just 2 of 10 categories (concentration risk)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93592" cy="1097280"/>
          </a:xfrm>
          <a:prstGeom prst="roundRect">
            <a:avLst>
              <a:gd name="adj" fmla="val 5000"/>
            </a:avLst>
          </a:prstGeom>
          <a:solidFill>
            <a:srgbClr val="F6EC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47888" y="1234440"/>
            <a:ext cx="337413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1757477"/>
            <a:ext cx="3374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registered users never order; 31.7% of buyers one-time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2724912"/>
            <a:ext cx="5943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Revenue is flat (~$529K/mo, 23-month window) - growth must come from protecting &amp; reallocating existing value, not new demand.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Reactivating buyers and reducing returns act on money already in the funnel: cheaper and faster than acquisition.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Interventions must be targeted by customer value and risk - blanket discounts erode margin.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Events, transactions, product and review data are complementary but must not be merged without validating their links.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423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- public e-commerce data, 6 linked tables (Jan 2024 - Nov 2025)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788920"/>
          <a:ext cx="51023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60120"/>
                <a:gridCol w="24048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master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catalog: category, brand,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header: status, date, 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43,525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items: qty, price,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/ cart / wishlist / purchase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 + free 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57200" y="5870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PATHWAY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144768"/>
            <a:ext cx="11274552" cy="457200"/>
          </a:xfrm>
          <a:prstGeom prst="rect">
            <a:avLst/>
          </a:prstGeom>
          <a:solidFill>
            <a:srgbClr val="F5F1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 ›  inactivity / return risk  ›  customer value  ›  targeted offer  ›  forecast budget  ›  anomaly control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2A1B2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"/>
            <a:ext cx="493776" cy="493776"/>
          </a:xfrm>
          <a:prstGeom prst="ellipse">
            <a:avLst/>
          </a:prstGeom>
          <a:solidFill>
            <a:srgbClr val="7A2E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19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Baseline - Customers, Orders &amp; Revenue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486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23-month history, flat monthly revenue: the lever is reallocating value, not riding growth</a:t>
            </a:r>
            <a:endParaRPr lang="en-US" sz="1250" dirty="0"/>
          </a:p>
        </p:txBody>
      </p:sp>
      <p:pic>
        <p:nvPicPr>
          <p:cNvPr id="7" name="Image 0" descr="/home/claude/ch/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36092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097280"/>
            <a:ext cx="3730752" cy="512064"/>
          </a:xfrm>
          <a:prstGeom prst="roundRect">
            <a:avLst>
              <a:gd name="adj" fmla="val 8929"/>
            </a:avLst>
          </a:prstGeom>
          <a:solidFill>
            <a:srgbClr val="F5F1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09728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$11.92M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109728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order value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1700784"/>
            <a:ext cx="3730752" cy="512064"/>
          </a:xfrm>
          <a:prstGeom prst="roundRect">
            <a:avLst>
              <a:gd name="adj" fmla="val 8929"/>
            </a:avLst>
          </a:prstGeom>
          <a:solidFill>
            <a:srgbClr val="F1E7E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38160" y="17007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$595.93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170078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(AOV)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01000" y="2304288"/>
            <a:ext cx="3730752" cy="512064"/>
          </a:xfrm>
          <a:prstGeom prst="roundRect">
            <a:avLst>
              <a:gd name="adj" fmla="val 8929"/>
            </a:avLst>
          </a:prstGeom>
          <a:solidFill>
            <a:srgbClr val="F5F1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38160" y="230428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2.32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0" y="230428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buyer (median 2)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01000" y="2907792"/>
            <a:ext cx="3730752" cy="512064"/>
          </a:xfrm>
          <a:prstGeom prst="roundRect">
            <a:avLst>
              <a:gd name="adj" fmla="val 8929"/>
            </a:avLst>
          </a:prstGeom>
          <a:solidFill>
            <a:srgbClr val="F1E7E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38160" y="290779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8,635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0" y="29077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10,000 users purchased</a:t>
            </a:r>
            <a:endParaRPr lang="en-US" sz="1150" dirty="0"/>
          </a:p>
        </p:txBody>
      </p:sp>
      <p:pic>
        <p:nvPicPr>
          <p:cNvPr id="20" name="Image 1" descr="/home/claude/ch/op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03320"/>
            <a:ext cx="3794760" cy="2514600"/>
          </a:xfrm>
          <a:prstGeom prst="rect">
            <a:avLst/>
          </a:prstGeom>
        </p:spPr>
      </p:pic>
      <p:pic>
        <p:nvPicPr>
          <p:cNvPr id="21" name="Image 2" descr="/home/claude/ch/ov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703320"/>
            <a:ext cx="3794760" cy="2514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1248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Read-outs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412480" y="4023360"/>
            <a:ext cx="3337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Base skews to low-frequency buyers: 31.7% order once, only ~2% order 6+ times.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Order value is long-tailed (median $308, 75th $768, max $7,951).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→ Prioritise by value tier; the tail seeds anomaly detection.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2A1B2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"/>
            <a:ext cx="493776" cy="493776"/>
          </a:xfrm>
          <a:prstGeom prst="ellipse">
            <a:avLst/>
          </a:prstGeom>
          <a:solidFill>
            <a:srgbClr val="7A2E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19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Baseline - Concentration &amp; Engagement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486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concentrates in two categories; engagement events are not a verified purchase funnel</a:t>
            </a:r>
            <a:endParaRPr lang="en-US" sz="1250" dirty="0"/>
          </a:p>
        </p:txBody>
      </p:sp>
      <p:pic>
        <p:nvPicPr>
          <p:cNvPr id="7" name="Image 0" descr="/home/claude/ch/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3246120"/>
          </a:xfrm>
          <a:prstGeom prst="rect">
            <a:avLst/>
          </a:prstGeom>
        </p:spPr>
      </p:pic>
      <p:pic>
        <p:nvPicPr>
          <p:cNvPr id="8" name="Image 1" descr="/home/claude/ch/stat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3017520" cy="2103120"/>
          </a:xfrm>
          <a:prstGeom prst="rect">
            <a:avLst/>
          </a:prstGeom>
        </p:spPr>
      </p:pic>
      <p:pic>
        <p:nvPicPr>
          <p:cNvPr id="9" name="Image 2" descr="/home/claude/ch/ev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097280"/>
            <a:ext cx="2651760" cy="21031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4526280"/>
            <a:ext cx="5394960" cy="1737360"/>
          </a:xfrm>
          <a:prstGeom prst="roundRect">
            <a:avLst>
              <a:gd name="adj" fmla="val 2632"/>
            </a:avLst>
          </a:prstGeom>
          <a:solidFill>
            <a:srgbClr val="F5F1F4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640080" y="4645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rating fields - keep separate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4956048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products.rating: catalog score, float 2.5-4.9 (mean 3.68) → product similarity.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reviews.rating: customer score, integer 1-5 (mean 3.54, n=15,000) → feedback analysis.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Different constructs - never average or pool them.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035040" y="4526280"/>
            <a:ext cx="5696712" cy="1737360"/>
          </a:xfrm>
          <a:prstGeom prst="roundRect">
            <a:avLst>
              <a:gd name="adj" fmla="val 2632"/>
            </a:avLst>
          </a:prstGeom>
          <a:solidFill>
            <a:srgbClr val="F6ECD8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217920" y="46451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boundary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217920" y="4956048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4,006 event purchase-tags do NOT reconcile to 20,000 orders.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No clean view → cart → purchase funnel; don't use event 'purchase' as transaction truth.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Report engagement and transactions as separate analytical streams.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2A1B2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"/>
            <a:ext cx="493776" cy="493776"/>
          </a:xfrm>
          <a:prstGeom prst="ellipse">
            <a:avLst/>
          </a:prstGeom>
          <a:solidFill>
            <a:srgbClr val="7A2E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19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Preprocessing, Cleaning &amp; Transformation Plan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486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structurally clean; the real work is a broken signup timeline and correct encoding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246120" cy="5029200"/>
          </a:xfrm>
          <a:prstGeom prst="roundRect">
            <a:avLst>
              <a:gd name="adj" fmla="val 1408"/>
            </a:avLst>
          </a:prstGeom>
          <a:solidFill>
            <a:srgbClr val="F1E7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VERIFIED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36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basic hygiene needed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0 nulls, 0 duplicate rows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All foreign keys resolve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qty × item_price = item_total (all 43,525 rows)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Order totals reconcile to line sums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2880360" cy="0"/>
          </a:xfrm>
          <a:prstGeom prst="line">
            <a:avLst/>
          </a:prstGeom>
          <a:noFill/>
          <a:ln w="9525">
            <a:solidFill>
              <a:srgbClr val="7A2E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CAVEAT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462272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Faker-style: @example.* emails, generated names, near-uniform category/gender/status.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30"/>
                </a:solidFill>
              </a:rPr>
              <a:t>→ Behavioural signal &amp; real-world generalisability are limited; expectations tempered.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PLAN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1417320"/>
            <a:ext cx="292608" cy="292608"/>
          </a:xfrm>
          <a:prstGeom prst="rect">
            <a:avLst/>
          </a:prstGeom>
          <a:solidFill>
            <a:srgbClr val="C68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13990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tenure anchor.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1728216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first orders predate signup_date (median tenure -107 days). Drop signup for tenure/cohorts; rebuild recency from first order_date.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2953512"/>
            <a:ext cx="292608" cy="292608"/>
          </a:xfrm>
          <a:prstGeom prst="rect">
            <a:avLst/>
          </a:prstGeom>
          <a:solidFill>
            <a:srgbClr val="C68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9352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revenue rule.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326440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= completed + shipped; exclude cancelled + returned (39.9%); report processing separately; run a status-sensitivity check.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4489704"/>
            <a:ext cx="292608" cy="292608"/>
          </a:xfrm>
          <a:prstGeom prst="rect">
            <a:avLst/>
          </a:prstGeom>
          <a:solidFill>
            <a:srgbClr val="C68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44714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nominals as one-hot.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8006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order_status, event_type, category, brand - never label-encode into K-means / DBSCAN / kNN.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1417320"/>
            <a:ext cx="292608" cy="292608"/>
          </a:xfrm>
          <a:prstGeom prst="rect">
            <a:avLst/>
          </a:prstGeom>
          <a:solidFill>
            <a:srgbClr val="C68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13990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IDs as strings; drop noise.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1728216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U/O/P/I ids stay identifiers (never numeric). Drop city (7,755 near-unique = an ID) and name / email (PII).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2953512"/>
            <a:ext cx="292608" cy="292608"/>
          </a:xfrm>
          <a:prstGeom prst="rect">
            <a:avLst/>
          </a:prstGeom>
          <a:solidFill>
            <a:srgbClr val="C68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29352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features.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326440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RFM from order_date (recency, frequency, recognised spend, AOV, category/brand breadth) + engagement counts; log1p on skewed money fields.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4489704"/>
            <a:ext cx="292608" cy="292608"/>
          </a:xfrm>
          <a:prstGeom prst="rect">
            <a:avLst/>
          </a:prstGeom>
          <a:solidFill>
            <a:srgbClr val="C68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4714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event &amp; transaction data.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8006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as engagement predictors only - never as order ground truth.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2A1B2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"/>
            <a:ext cx="493776" cy="493776"/>
          </a:xfrm>
          <a:prstGeom prst="ellipse">
            <a:avLst/>
          </a:prstGeom>
          <a:solidFill>
            <a:srgbClr val="7A2E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19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Models &amp; Expected Outcomes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486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syllabus-aligned models to prioritise decisions - not to promise guaranteed uplift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377440"/>
                <a:gridCol w="3154680"/>
                <a:gridCol w="341071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/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 expected 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2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are our segments &amp; who's valuable?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(+ hierarchical / DBSCAN validation)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RFM + breadth + engagement, standardised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actionable cohorts; DBSCAN confirms whether dense natural clusters exist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will repeat / go inactive?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→ decision tree / ensemble; class-imbalance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Repeat-purchase in window; leakage-safe RFM + engagement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risk list + drivers; expect weak signal (AUC ≈ 0.5) - stated as a data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each customer worth?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+ Ridge / Lasso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Future-period spend; historical spend, freq, AOV, recency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value ranking; Lasso prunes drivers, Ridge stabilises correlated 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sells together / cold-start?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 rules (Apriori) + content 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Category/brand baskets; category, brand, price, catalog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Cross-sell / bundle candidates by lift (≠ causal); similar-product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transactions need review?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z-score / IQR + Isolation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total_amount, quantity, unit price, category norms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Transaction-risk queue; threshold from value exposure, not default 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806440"/>
            <a:ext cx="11274552" cy="841248"/>
          </a:xfrm>
          <a:prstGeom prst="roundRect">
            <a:avLst>
              <a:gd name="adj" fmla="val 5435"/>
            </a:avLst>
          </a:prstGeom>
          <a:solidFill>
            <a:srgbClr val="F1E7E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5897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587959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 · same holdout across models · ROC-AUC / F1 (not raw accuracy) · holdout error for regression &amp; forecast · clusters validated statistically + commercially · anomaly flags = investigation signals, not fraud.  Not proposing RNN forecasting (23 monthly points, flat ~$529K) - use classical smoothing / ARIMA if shown.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2026-08-31T17:27:55Z</dcterms:created>
  <dcterms:modified xsi:type="dcterms:W3CDTF">2026-08-31T17:27:55Z</dcterms:modified>
</cp:coreProperties>
</file>